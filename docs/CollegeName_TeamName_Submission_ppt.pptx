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153db28-a837-1770-8209-5e7fe388d033}">
          <p14:sldIdLst>
            <p14:sldId id="256"/>
          </p14:sldIdLst>
        </p14:section>
        <p14:section name="Problem" id="{d3b8df4f-cc6e-f052-2227-2a2c68e3a513}">
          <p14:sldIdLst>
            <p14:sldId id="257"/>
          </p14:sldIdLst>
        </p14:section>
        <p14:section name="Solution" id="{95ba5540-e6a7-ce9a-6c33-09294db999c1}">
          <p14:sldIdLst>
            <p14:sldId id="258"/>
            <p14:sldId id="259"/>
            <p14:sldId id="260"/>
            <p14:sldId id="261"/>
          </p14:sldIdLst>
        </p14:section>
        <p14:section name="Results" id="{f4922fc1-a6b8-f074-3c3a-6253c033957a}">
          <p14:sldIdLst>
            <p14:sldId id="262"/>
            <p14:sldId id="263"/>
            <p14:sldId id="264"/>
          </p14:sldIdLst>
        </p14:section>
        <p14:section name="Wrap-up" id="{6790ad2d-47ba-5104-62c3-42ff38e82e8d}">
          <p14:sldIdLst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+mn-lt"/>
              </a:rPr>
              <a:t>Baselines vs CodeCartographer agent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BM25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B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Precision@1</c:v>
                  </c:pt>
                  <c:pt idx="1">
                    <c:v>Recall@5</c:v>
                  </c:pt>
                  <c:pt idx="2">
                    <c:v>MRR</c:v>
                  </c:pt>
                  <c:pt idx="3">
                    <c:v>Answer precision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0.366</c:v>
                </c:pt>
                <c:pt idx="1">
                  <c:v>0.778</c:v>
                </c:pt>
                <c:pt idx="2">
                  <c:v>0.579</c:v>
                </c:pt>
                <c:pt idx="3">
                  <c:v>0.167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Dense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B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Precision@1</c:v>
                  </c:pt>
                  <c:pt idx="1">
                    <c:v>Recall@5</c:v>
                  </c:pt>
                  <c:pt idx="2">
                    <c:v>MRR</c:v>
                  </c:pt>
                  <c:pt idx="3">
                    <c:v>Answer precision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0.683</c:v>
                </c:pt>
                <c:pt idx="1">
                  <c:v>0.872</c:v>
                </c:pt>
                <c:pt idx="2">
                  <c:v>0.792</c:v>
                </c:pt>
                <c:pt idx="3">
                  <c:v>0.163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Hybrid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B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Precision@1</c:v>
                  </c:pt>
                  <c:pt idx="1">
                    <c:v>Recall@5</c:v>
                  </c:pt>
                  <c:pt idx="2">
                    <c:v>MRR</c:v>
                  </c:pt>
                  <c:pt idx="3">
                    <c:v>Answer precision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0.659</c:v>
                </c:pt>
                <c:pt idx="1">
                  <c:v>0.878</c:v>
                </c:pt>
                <c:pt idx="2">
                  <c:v>0.807</c:v>
                </c:pt>
                <c:pt idx="3">
                  <c:v>0.173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Agent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B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Precision@1</c:v>
                  </c:pt>
                  <c:pt idx="1">
                    <c:v>Recall@5</c:v>
                  </c:pt>
                  <c:pt idx="2">
                    <c:v>MRR</c:v>
                  </c:pt>
                  <c:pt idx="3">
                    <c:v>Answer precision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0.78</c:v>
                </c:pt>
                <c:pt idx="1">
                  <c:v>0.982</c:v>
                </c:pt>
                <c:pt idx="2">
                  <c:v>0.883</c:v>
                </c:pt>
                <c:pt idx="3">
                  <c:v>0.478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E6EBF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6EBF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24304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6EBF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theme. CodeCartographer is our entry for Theme 01, Agentic Code Intelligence.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in our own words: the repo is too large for any context window, keyword search can't answer structural questions, and LLMs hallucinate locations.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answer is a list of verified file:line locations with snippets, plus a call graph and optimisation tips.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Indexer builds AST facts, an ordered call graph and embeddings. The agent plans, calls tools, refines and verifies. Optional LLM only refines; the deterministic planner runs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trace: symbol, references, then the agent notices the constant is stored in lookup tables and follows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sites are recorded in evaluation order with branch guards; tool invocations resolve to registered handlers.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Deterministic agent, no API key. The negative query (placeCall before openDeeplink) is answered correctly only by the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Structural and usage queries are where retrieval-only systems fail. Incremental indexing keeps the index fresh in under a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UI. Docker one-liner reproduces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runs on CPU; no GPU or paid API is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makes this more than RAG over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limitations; frame next steps as a PRISM worklet.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CodeCartographer  ·  Theme 01 Agentic Code Intelligence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ircle"/>
          <p:cNvSpPr/>
          <p:nvPr/>
        </p:nvSpPr>
        <p:spPr>
          <a:xfrm>
            <a:off x="731520" y="914400"/>
            <a:ext cx="1005840" cy="100584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pic>
        <p:nvPicPr>
          <p:cNvPr id="3" name="log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165860"/>
            <a:ext cx="502920" cy="502920"/>
          </a:xfrm>
          <a:prstGeom prst="rect">
            <a:avLst/>
          </a:prstGeom>
        </p:spPr>
      </p:pic>
      <p:sp>
        <p:nvSpPr>
          <p:cNvPr id="4" name="theme id"/>
          <p:cNvSpPr txBox="1"/>
          <p:nvPr/>
        </p:nvSpPr>
        <p:spPr>
          <a:xfrm>
            <a:off x="192024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THEME 01  ·  AGENTIC CODE INTELLIGENCE</a:t>
            </a:r>
            <a:endParaRPr lang="en-US" sz="16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CodeCartographer</a:t>
            </a:r>
            <a:endParaRPr lang="en-US" sz="6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383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Find the right code in a JavaScript repo far larger than any context window. Agentic, CPU-only, and every file:line it cites is verified</a:t>
            </a:r>
            <a:endParaRPr lang="en-US" sz="2200" dirty="0"/>
          </a:p>
        </p:txBody>
      </p:sp>
      <p:sp>
        <p:nvSpPr>
          <p:cNvPr id="7" name="team card"/>
          <p:cNvSpPr/>
          <p:nvPr/>
        </p:nvSpPr>
        <p:spPr>
          <a:xfrm>
            <a:off x="731520" y="4892040"/>
            <a:ext cx="1069848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8" name="team details"/>
          <p:cNvSpPr txBox="1"/>
          <p:nvPr/>
        </p:nvSpPr>
        <p:spPr>
          <a:xfrm>
            <a:off x="1005840" y="50749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Team: 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&lt;TeamName&gt;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College: 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&lt;CollegeName&gt;   ·   Members: &lt;Name 1&gt;, &lt;Name 2&gt;, &lt;Name 3&gt;, &lt;Name 4&gt;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The repo never fits in the context window</a:t>
            </a:r>
            <a:endParaRPr lang="en-US" sz="3400" dirty="0"/>
          </a:p>
        </p:txBody>
      </p:sp>
      <p:sp>
        <p:nvSpPr>
          <p:cNvPr id="3" name="problem statement"/>
          <p:cNvSpPr txBox="1"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Voice-assistant codebases spread dozens of agents and tools across thousands of files. New developers, and LLMs, lose the thread: finding where something happens is the slow part of every fix.</a:t>
            </a:r>
            <a:endParaRPr lang="en-US" sz="1800" dirty="0"/>
          </a:p>
        </p:txBody>
      </p:sp>
      <p:sp>
        <p:nvSpPr>
          <p:cNvPr id="4" name="pain 1"/>
          <p:cNvSpPr/>
          <p:nvPr/>
        </p:nvSpPr>
        <p:spPr>
          <a:xfrm>
            <a:off x="548640" y="237744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5" name="pain 1 circle"/>
          <p:cNvSpPr/>
          <p:nvPr/>
        </p:nvSpPr>
        <p:spPr>
          <a:xfrm>
            <a:off x="868680" y="2651760"/>
            <a:ext cx="822960" cy="82296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pic>
        <p:nvPicPr>
          <p:cNvPr id="6" name="pai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8575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Too big to read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2062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~237K tokens at just 860 files. No LLM can hold the whole repo, so the answer has to be found, not read.</a:t>
            </a:r>
            <a:endParaRPr lang="en-US" sz="1500" dirty="0"/>
          </a:p>
        </p:txBody>
      </p:sp>
      <p:sp>
        <p:nvSpPr>
          <p:cNvPr id="9" name="pain 2"/>
          <p:cNvSpPr/>
          <p:nvPr/>
        </p:nvSpPr>
        <p:spPr>
          <a:xfrm>
            <a:off x="4297680" y="237744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0" name="pain 2 circle"/>
          <p:cNvSpPr/>
          <p:nvPr/>
        </p:nvSpPr>
        <p:spPr>
          <a:xfrm>
            <a:off x="4617720" y="2651760"/>
            <a:ext cx="822960" cy="82296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pic>
        <p:nvPicPr>
          <p:cNvPr id="11" name="pai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60" y="28575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Search misses structure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42062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“Which files call tool A before tool B?” is about execution order across functions and branches, not keywords.</a:t>
            </a:r>
            <a:endParaRPr lang="en-US" sz="1500" dirty="0"/>
          </a:p>
        </p:txBody>
      </p:sp>
      <p:sp>
        <p:nvSpPr>
          <p:cNvPr id="14" name="pain 3"/>
          <p:cNvSpPr/>
          <p:nvPr/>
        </p:nvSpPr>
        <p:spPr>
          <a:xfrm>
            <a:off x="8046720" y="237744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5" name="pain 3 circle"/>
          <p:cNvSpPr/>
          <p:nvPr/>
        </p:nvSpPr>
        <p:spPr>
          <a:xfrm>
            <a:off x="8366760" y="2651760"/>
            <a:ext cx="822960" cy="82296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pic>
        <p:nvPicPr>
          <p:cNvPr id="16" name="pai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8575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LLMs guess locations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42062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Unverified answers invent file paths and line numbers, which costs more time than it saves.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One agent, four kinds of questions</a:t>
            </a:r>
            <a:endParaRPr lang="en-US" sz="3400" dirty="0"/>
          </a:p>
        </p:txBody>
      </p:sp>
      <p:sp>
        <p:nvSpPr>
          <p:cNvPr id="3" name="kind Semantic"/>
          <p:cNvSpPr/>
          <p:nvPr/>
        </p:nvSpPr>
        <p:spPr>
          <a:xfrm>
            <a:off x="548640" y="132588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4" name="Semantic 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pic>
        <p:nvPicPr>
          <p:cNvPr id="5" name="Semant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733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Semantic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“Where do we retry failed network requests with backoff?”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Hybrid BM25 + code embeddings + symbols, multi-query rewrite, call-graph expansion</a:t>
            </a:r>
            <a:endParaRPr lang="en-US" sz="1400" dirty="0"/>
          </a:p>
        </p:txBody>
      </p:sp>
      <p:sp>
        <p:nvSpPr>
          <p:cNvPr id="9" name="kind Usage"/>
          <p:cNvSpPr/>
          <p:nvPr/>
        </p:nvSpPr>
        <p:spPr>
          <a:xfrm>
            <a:off x="6172200" y="132588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0" name="Usage circle"/>
          <p:cNvSpPr/>
          <p:nvPr/>
        </p:nvSpPr>
        <p:spPr>
          <a:xfrm>
            <a:off x="6446520" y="1600200"/>
            <a:ext cx="731520" cy="73152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pic>
        <p:nvPicPr>
          <p:cNvPr id="11" name="Usag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16733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Usage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423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“Where is the Bluetooth-settings deeplink used?”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Symbol → references → 2-hop alias tracking through lookup tables</a:t>
            </a:r>
            <a:endParaRPr lang="en-US" sz="1400" dirty="0"/>
          </a:p>
        </p:txBody>
      </p:sp>
      <p:sp>
        <p:nvSpPr>
          <p:cNvPr id="15" name="kind Structural"/>
          <p:cNvSpPr/>
          <p:nvPr/>
        </p:nvSpPr>
        <p:spPr>
          <a:xfrm>
            <a:off x="548640" y="379476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6" name="Structural circle"/>
          <p:cNvSpPr/>
          <p:nvPr/>
        </p:nvSpPr>
        <p:spPr>
          <a:xfrm>
            <a:off x="822960" y="4069080"/>
            <a:ext cx="731520" cy="73152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pic>
        <p:nvPicPr>
          <p:cNvPr id="17" name="Structural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2519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37360" y="4142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Structural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“Which files call tool checkPermission before openDeeplink?”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5394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Inter-procedural, branch-aware call-order analysis over the AST call graph</a:t>
            </a:r>
            <a:endParaRPr lang="en-US" sz="1400" dirty="0"/>
          </a:p>
        </p:txBody>
      </p:sp>
      <p:sp>
        <p:nvSpPr>
          <p:cNvPr id="21" name="kind Callers &amp; optimise"/>
          <p:cNvSpPr/>
          <p:nvPr/>
        </p:nvSpPr>
        <p:spPr>
          <a:xfrm>
            <a:off x="6172200" y="379476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22" name="Callers &amp; optimise circle"/>
          <p:cNvSpPr/>
          <p:nvPr/>
        </p:nvSpPr>
        <p:spPr>
          <a:xfrm>
            <a:off x="6446520" y="4069080"/>
            <a:ext cx="731520" cy="731520"/>
          </a:xfrm>
          <a:prstGeom prst="ellipse">
            <a:avLst/>
          </a:prstGeom>
          <a:solidFill>
            <a:schemeClr val="accent4">
              <a:alpha val="18000"/>
            </a:schemeClr>
          </a:solidFill>
          <a:ln/>
        </p:spPr>
      </p:sp>
      <p:pic>
        <p:nvPicPr>
          <p:cNvPr id="23" name="Callers &amp; optimis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25196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60920" y="4142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Callers &amp; optimise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6446520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“Who calls getUserLocation?”  “What is slow in device discovery?”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446520" y="5394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Call graph + 8 static performance detectors on surfaced code paths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INDEX  ·  incremental, CPU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43484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AGENT LOOP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77824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INTERFACES</a:t>
            </a:r>
            <a:endParaRPr lang="en-US" sz="1200" dirty="0"/>
          </a:p>
        </p:txBody>
      </p:sp>
      <p:sp>
        <p:nvSpPr>
          <p:cNvPr id="6" name="index 0"/>
          <p:cNvSpPr/>
          <p:nvPr/>
        </p:nvSpPr>
        <p:spPr>
          <a:xfrm>
            <a:off x="548640" y="1737360"/>
            <a:ext cx="329184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373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tree-sitter AST</a:t>
            </a:r>
            <a:endParaRPr lang="en-US" sz="1400" dirty="0"/>
          </a:p>
        </p:txBody>
      </p:sp>
      <p:sp>
        <p:nvSpPr>
          <p:cNvPr id="8" name="index 1"/>
          <p:cNvSpPr/>
          <p:nvPr/>
        </p:nvSpPr>
        <p:spPr>
          <a:xfrm>
            <a:off x="548640" y="2450592"/>
            <a:ext cx="329184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4505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Ordered call graph + branch guards</a:t>
            </a:r>
            <a:endParaRPr lang="en-US" sz="1400" dirty="0"/>
          </a:p>
        </p:txBody>
      </p:sp>
      <p:sp>
        <p:nvSpPr>
          <p:cNvPr id="10" name="index 2"/>
          <p:cNvSpPr/>
          <p:nvPr/>
        </p:nvSpPr>
        <p:spPr>
          <a:xfrm>
            <a:off x="548640" y="3163824"/>
            <a:ext cx="329184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16382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Tool invoke → handler edges</a:t>
            </a:r>
            <a:endParaRPr lang="en-US" sz="1400" dirty="0"/>
          </a:p>
        </p:txBody>
      </p:sp>
      <p:sp>
        <p:nvSpPr>
          <p:cNvPr id="12" name="index 3"/>
          <p:cNvSpPr/>
          <p:nvPr/>
        </p:nvSpPr>
        <p:spPr>
          <a:xfrm>
            <a:off x="548640" y="3877056"/>
            <a:ext cx="329184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7705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Symbols · refs · strings</a:t>
            </a:r>
            <a:endParaRPr lang="en-US" sz="1400" dirty="0"/>
          </a:p>
        </p:txBody>
      </p:sp>
      <p:sp>
        <p:nvSpPr>
          <p:cNvPr id="14" name="index 4"/>
          <p:cNvSpPr/>
          <p:nvPr/>
        </p:nvSpPr>
        <p:spPr>
          <a:xfrm>
            <a:off x="548640" y="4590288"/>
            <a:ext cx="329184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5902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BM25 + jina-code embeddings</a:t>
            </a:r>
            <a:endParaRPr lang="en-US" sz="1400" dirty="0"/>
          </a:p>
        </p:txBody>
      </p:sp>
      <p:sp>
        <p:nvSpPr>
          <p:cNvPr id="16" name="index 5"/>
          <p:cNvSpPr/>
          <p:nvPr/>
        </p:nvSpPr>
        <p:spPr>
          <a:xfrm>
            <a:off x="548640" y="5303520"/>
            <a:ext cx="329184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3035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Optimisation detectors</a:t>
            </a:r>
            <a:endParaRPr lang="en-US" sz="1400" dirty="0"/>
          </a:p>
        </p:txBody>
      </p:sp>
      <p:sp>
        <p:nvSpPr>
          <p:cNvPr id="18" name="agent 0"/>
          <p:cNvSpPr/>
          <p:nvPr/>
        </p:nvSpPr>
        <p:spPr>
          <a:xfrm>
            <a:off x="4434840" y="1737360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7720" y="1828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Plan &amp; rewrite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classify query, code-vocabulary rewrites</a:t>
            </a:r>
            <a:endParaRPr lang="en-US" sz="1500" dirty="0"/>
          </a:p>
        </p:txBody>
      </p:sp>
      <p:sp>
        <p:nvSpPr>
          <p:cNvPr id="20" name="agent arrow 0"/>
          <p:cNvSpPr/>
          <p:nvPr/>
        </p:nvSpPr>
        <p:spPr>
          <a:xfrm>
            <a:off x="6217920" y="2606040"/>
            <a:ext cx="0" cy="201168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agent 1"/>
          <p:cNvSpPr/>
          <p:nvPr/>
        </p:nvSpPr>
        <p:spPr>
          <a:xfrm>
            <a:off x="4434840" y="2807208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17720" y="289864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Call tools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search_code · find_symbol · find_references · call_order · callers · read_code</a:t>
            </a:r>
            <a:endParaRPr lang="en-US" sz="1500" dirty="0"/>
          </a:p>
        </p:txBody>
      </p:sp>
      <p:sp>
        <p:nvSpPr>
          <p:cNvPr id="23" name="agent arrow 1"/>
          <p:cNvSpPr/>
          <p:nvPr/>
        </p:nvSpPr>
        <p:spPr>
          <a:xfrm>
            <a:off x="6217920" y="3675888"/>
            <a:ext cx="0" cy="201168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agent 2"/>
          <p:cNvSpPr/>
          <p:nvPr/>
        </p:nvSpPr>
        <p:spPr>
          <a:xfrm>
            <a:off x="4434840" y="3877056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17720" y="396849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Refine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alias-table hops, call-graph expansion</a:t>
            </a:r>
            <a:endParaRPr lang="en-US" sz="1500" dirty="0"/>
          </a:p>
        </p:txBody>
      </p:sp>
      <p:sp>
        <p:nvSpPr>
          <p:cNvPr id="26" name="agent arrow 2"/>
          <p:cNvSpPr/>
          <p:nvPr/>
        </p:nvSpPr>
        <p:spPr>
          <a:xfrm>
            <a:off x="6217920" y="4745736"/>
            <a:ext cx="0" cy="201168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7" name="agent 3"/>
          <p:cNvSpPr/>
          <p:nvPr/>
        </p:nvSpPr>
        <p:spPr>
          <a:xfrm>
            <a:off x="4434840" y="4946904"/>
            <a:ext cx="3566160" cy="868680"/>
          </a:xfrm>
          <a:prstGeom prst="roundRect">
            <a:avLst>
              <a:gd name="adj" fmla="val 12632"/>
            </a:avLst>
          </a:prstGeom>
          <a:solidFill>
            <a:srgbClr val="18223D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17720" y="503834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Verify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file exists · lines in range · evidence present</a:t>
            </a:r>
            <a:endParaRPr lang="en-US" sz="1500" dirty="0"/>
          </a:p>
        </p:txBody>
      </p:sp>
      <p:sp>
        <p:nvSpPr>
          <p:cNvPr id="29" name="iface 0"/>
          <p:cNvSpPr/>
          <p:nvPr/>
        </p:nvSpPr>
        <p:spPr>
          <a:xfrm>
            <a:off x="8778240" y="1737360"/>
            <a:ext cx="28346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61120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Web UI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live agent trace, call graph</a:t>
            </a:r>
            <a:endParaRPr lang="en-US" sz="1500" dirty="0"/>
          </a:p>
        </p:txBody>
      </p:sp>
      <p:sp>
        <p:nvSpPr>
          <p:cNvPr id="31" name="iface 1"/>
          <p:cNvSpPr/>
          <p:nvPr/>
        </p:nvSpPr>
        <p:spPr>
          <a:xfrm>
            <a:off x="8778240" y="2807208"/>
            <a:ext cx="28346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61120" y="28986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CLI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index · ask · search</a:t>
            </a:r>
            <a:endParaRPr lang="en-US" sz="1500" dirty="0"/>
          </a:p>
        </p:txBody>
      </p:sp>
      <p:sp>
        <p:nvSpPr>
          <p:cNvPr id="33" name="iface 2"/>
          <p:cNvSpPr/>
          <p:nvPr/>
        </p:nvSpPr>
        <p:spPr>
          <a:xfrm>
            <a:off x="8778240" y="3877056"/>
            <a:ext cx="28346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961120" y="396849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MCP server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Claude Code · Cursor · VS Code</a:t>
            </a:r>
            <a:endParaRPr lang="en-US" sz="1500" dirty="0"/>
          </a:p>
        </p:txBody>
      </p:sp>
      <p:sp>
        <p:nvSpPr>
          <p:cNvPr id="35" name="iface 3"/>
          <p:cNvSpPr/>
          <p:nvPr/>
        </p:nvSpPr>
        <p:spPr>
          <a:xfrm>
            <a:off x="8778240" y="4946904"/>
            <a:ext cx="28346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961120" y="5038344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REST + SSE API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/api/ask streams events</a:t>
            </a:r>
            <a:endParaRPr lang="en-US" sz="1500" dirty="0"/>
          </a:p>
        </p:txBody>
      </p:sp>
      <p:sp>
        <p:nvSpPr>
          <p:cNvPr id="37" name="index to agent"/>
          <p:cNvSpPr/>
          <p:nvPr/>
        </p:nvSpPr>
        <p:spPr>
          <a:xfrm>
            <a:off x="3886200" y="3566160"/>
            <a:ext cx="5029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8" name="agent to interfaces"/>
          <p:cNvSpPr/>
          <p:nvPr/>
        </p:nvSpPr>
        <p:spPr>
          <a:xfrm>
            <a:off x="8046720" y="3566160"/>
            <a:ext cx="68580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9" name="llm box"/>
          <p:cNvSpPr/>
          <p:nvPr/>
        </p:nvSpPr>
        <p:spPr>
          <a:xfrm>
            <a:off x="4434840" y="6035040"/>
            <a:ext cx="3566160" cy="292608"/>
          </a:xfrm>
          <a:prstGeom prst="roundRect">
            <a:avLst>
              <a:gd name="adj" fmla="val 37500"/>
            </a:avLst>
          </a:prstGeom>
          <a:solidFill>
            <a:srgbClr val="18223D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26280" y="6035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Optional LLM: Gemini · Groq · OpenAI · Ollama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The agent refines its own search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1"/>
                </a:solidFill>
              </a:rPr>
              <a:t>“Where is the Bluetooth-settings deeplink used?”</a:t>
            </a:r>
            <a:endParaRPr lang="en-US" sz="2000" dirty="0"/>
          </a:p>
        </p:txBody>
      </p:sp>
      <p:sp>
        <p:nvSpPr>
          <p:cNvPr id="4" name="step 0 dot"/>
          <p:cNvSpPr/>
          <p:nvPr/>
        </p:nvSpPr>
        <p:spPr>
          <a:xfrm>
            <a:off x="548640" y="194767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842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find_symbol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98424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BLUETOOTH_SETTINGS in deeplinks/deeplinkConstants.js:8 (the word “deeplink” matched the path)</a:t>
            </a:r>
            <a:endParaRPr lang="en-US" sz="1400" dirty="0"/>
          </a:p>
        </p:txBody>
      </p:sp>
      <p:sp>
        <p:nvSpPr>
          <p:cNvPr id="8" name="step 1 dot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254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find_references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82549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 direct uses: BluetoothAgent.run, SettingsAgent.openBluetoothSettings</a:t>
            </a:r>
            <a:endParaRPr lang="en-US" sz="1400" dirty="0"/>
          </a:p>
        </p:txBody>
      </p:sp>
      <p:sp>
        <p:nvSpPr>
          <p:cNvPr id="12" name="step 2 dot"/>
          <p:cNvSpPr/>
          <p:nvPr/>
        </p:nvSpPr>
        <p:spPr>
          <a:xfrm>
            <a:off x="548640" y="363016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6667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hop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366674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stored in table PROBLEM_TO_SETTINGS → TroubleshootAgent.run</a:t>
            </a:r>
            <a:endParaRPr lang="en-US" sz="1400" dirty="0"/>
          </a:p>
        </p:txBody>
      </p:sp>
      <p:sp>
        <p:nvSpPr>
          <p:cNvPr id="16" name="step 3 dot"/>
          <p:cNvSpPr/>
          <p:nvPr/>
        </p:nvSpPr>
        <p:spPr>
          <a:xfrm>
            <a:off x="548640" y="4471416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507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hop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450799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stored in SETTINGS_ALIASES → SettingsAgent.detectPage, resolveDeeplink</a:t>
            </a:r>
            <a:endParaRPr lang="en-US" sz="1400" dirty="0"/>
          </a:p>
        </p:txBody>
      </p:sp>
      <p:sp>
        <p:nvSpPr>
          <p:cNvPr id="20" name="step 4 dot"/>
          <p:cNvSpPr/>
          <p:nvPr/>
        </p:nvSpPr>
        <p:spPr>
          <a:xfrm>
            <a:off x="548640" y="5312664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312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349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53492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8 / 8 cited file:line spans confirmed against the source, in 3 ms</a:t>
            </a:r>
            <a:endParaRPr lang="en-US" sz="1400" dirty="0"/>
          </a:p>
        </p:txBody>
      </p:sp>
      <p:pic>
        <p:nvPicPr>
          <p:cNvPr id="24" name="usage screenshot" descr="D:\competitons\codecartographer\docs\img\usage-que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74520"/>
            <a:ext cx="4114800" cy="2596896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498080" y="46634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Two functions never mention the constant by name. Keyword search and embeddings alone miss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“Tool A before tool B”, computed rather than guessed</a:t>
            </a:r>
            <a:endParaRPr lang="en-US" sz="3400" dirty="0"/>
          </a:p>
        </p:txBody>
      </p:sp>
      <p:sp>
        <p:nvSpPr>
          <p:cNvPr id="3" name="code card"/>
          <p:cNvSpPr/>
          <p:nvPr/>
        </p:nvSpPr>
        <p:spPr>
          <a:xfrm>
            <a:off x="548640" y="132588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18223D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5029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SettingsAgent.run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this.ensurePermission(page);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tools.invoke('checkPermission')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this.launch(page);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tools.invoke('openDeeplink')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AccessibilityAgent.run  (bug)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tools.invoke('openDeeplink');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tools.invoke('checkPermission');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CallAgent.run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(confirm) invoke('openDeeplink')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       invoke('placeCall')</a:t>
            </a:r>
            <a:endParaRPr lang="en-US" sz="1400" dirty="0"/>
          </a:p>
        </p:txBody>
      </p:sp>
      <p:sp>
        <p:nvSpPr>
          <p:cNvPr id="5" name="fact 0 circle"/>
          <p:cNvSpPr/>
          <p:nvPr/>
        </p:nvSpPr>
        <p:spPr>
          <a:xfrm>
            <a:off x="6400800" y="1417320"/>
            <a:ext cx="685800" cy="685800"/>
          </a:xfrm>
          <a:prstGeom prst="ellipse">
            <a:avLst/>
          </a:prstGeom>
          <a:solidFill>
            <a:schemeClr val="accent4">
              <a:alpha val="18000"/>
            </a:schemeClr>
          </a:solidFill>
          <a:ln/>
        </p:spPr>
      </p:sp>
      <p:pic>
        <p:nvPicPr>
          <p:cNvPr id="6" name="fact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0" y="158877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269480" y="14356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Inter-procedural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269480" y="18745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Follows helpers 3 calls deep, so SettingsAgent is found through ensurePermission() → launch().</a:t>
            </a:r>
            <a:endParaRPr lang="en-US" sz="1400" dirty="0"/>
          </a:p>
        </p:txBody>
      </p:sp>
      <p:sp>
        <p:nvSpPr>
          <p:cNvPr id="9" name="fact 1 circle"/>
          <p:cNvSpPr/>
          <p:nvPr/>
        </p:nvSpPr>
        <p:spPr>
          <a:xfrm>
            <a:off x="6400800" y="3044952"/>
            <a:ext cx="685800" cy="68580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pic>
        <p:nvPicPr>
          <p:cNvPr id="10" name="fact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3216402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69480" y="3063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Order-aware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269480" y="3502152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AccessibilityAgent opens the deeplink first, so it is correctly excluded and flagged by the negated query.</a:t>
            </a:r>
            <a:endParaRPr lang="en-US" sz="1400" dirty="0"/>
          </a:p>
        </p:txBody>
      </p:sp>
      <p:sp>
        <p:nvSpPr>
          <p:cNvPr id="13" name="fact 2 circle"/>
          <p:cNvSpPr/>
          <p:nvPr/>
        </p:nvSpPr>
        <p:spPr>
          <a:xfrm>
            <a:off x="6400800" y="4672584"/>
            <a:ext cx="685800" cy="68580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pic>
        <p:nvPicPr>
          <p:cNvPr id="14" name="fact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4844034"/>
            <a:ext cx="342900" cy="3429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69480" y="46908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Branch-aware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7269480" y="5129784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Calls in exclusive if/else, ternary or switch arms are never reported as ordered.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Measured on 42 labelled queries</a:t>
            </a:r>
            <a:endParaRPr lang="en-US" sz="3400" dirty="0"/>
          </a:p>
        </p:txBody>
      </p:sp>
      <p:graphicFrame>
        <p:nvGraphicFramePr>
          <p:cNvPr id="3" name="results chart" descr=""/>
          <p:cNvGraphicFramePr/>
          <p:nvPr/>
        </p:nvGraphicFramePr>
        <p:xfrm>
          <a:off x="548640" y="128016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0"/>
          <p:cNvSpPr/>
          <p:nvPr/>
        </p:nvSpPr>
        <p:spPr>
          <a:xfrm>
            <a:off x="7863840" y="1325880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4356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98%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9875520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Recall@5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875520" y="198424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BM25: 78%</a:t>
            </a:r>
            <a:endParaRPr lang="en-US" sz="1100" dirty="0"/>
          </a:p>
        </p:txBody>
      </p:sp>
      <p:sp>
        <p:nvSpPr>
          <p:cNvPr id="8" name="stat 1"/>
          <p:cNvSpPr/>
          <p:nvPr/>
        </p:nvSpPr>
        <p:spPr>
          <a:xfrm>
            <a:off x="7863840" y="2926080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30358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0.88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987552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MRR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875520" y="358444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BM25: 0.58</a:t>
            </a:r>
            <a:endParaRPr lang="en-US" sz="1100" dirty="0"/>
          </a:p>
        </p:txBody>
      </p:sp>
      <p:sp>
        <p:nvSpPr>
          <p:cNvPr id="12" name="stat 2"/>
          <p:cNvSpPr/>
          <p:nvPr/>
        </p:nvSpPr>
        <p:spPr>
          <a:xfrm>
            <a:off x="7863840" y="4526280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92440" y="46360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2.9×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9875520" y="4754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less noise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875520" y="518464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share of returned spans that are relevant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Where the agent wins, and how it scales</a:t>
            </a:r>
            <a:endParaRPr lang="en-US" sz="3400" dirty="0"/>
          </a:p>
        </p:txBody>
      </p:sp>
      <p:graphicFrame>
        <p:nvGraphicFramePr>
          <p:cNvPr id="9" name="typ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035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43000"/>
                <a:gridCol w="1143000"/>
                <a:gridCol w="1143000"/>
                <a:gridCol w="1143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3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114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Negative query (correct answer: no file): BM25 ✗  Dense ✗  Hybrid ✗  Agent ✓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6177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Optimisation detectors: precision 1.00, recall 1.00 on 12 expected findings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0749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Index (43 files): parse 0.039s · CPU embedding 18s · 1.0 MB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13716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SCALE TEST · repo replicated 20×: 860 files, 27,300 LOC, ~237K tokens</a:t>
            </a:r>
            <a:endParaRPr lang="en-US" sz="1300" dirty="0"/>
          </a:p>
        </p:txBody>
      </p:sp>
      <p:sp>
        <p:nvSpPr>
          <p:cNvPr id="8" name="scale stat 0"/>
          <p:cNvSpPr/>
          <p:nvPr/>
        </p:nvSpPr>
        <p:spPr>
          <a:xfrm>
            <a:off x="6949440" y="2148840"/>
            <a:ext cx="466344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78040" y="22860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0.84s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9326880" y="22860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re-index after a change</a:t>
            </a:r>
            <a:endParaRPr lang="en-US" sz="1500" dirty="0"/>
          </a:p>
        </p:txBody>
      </p:sp>
      <p:sp>
        <p:nvSpPr>
          <p:cNvPr id="11" name="scale stat 1"/>
          <p:cNvSpPr/>
          <p:nvPr/>
        </p:nvSpPr>
        <p:spPr>
          <a:xfrm>
            <a:off x="6949440" y="3474720"/>
            <a:ext cx="466344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78040" y="3611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49 ms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0" y="3611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agent latency p50 (CPU)</a:t>
            </a:r>
            <a:endParaRPr lang="en-US" sz="1500" dirty="0"/>
          </a:p>
        </p:txBody>
      </p:sp>
      <p:sp>
        <p:nvSpPr>
          <p:cNvPr id="14" name="scale stat 2"/>
          <p:cNvSpPr/>
          <p:nvPr/>
        </p:nvSpPr>
        <p:spPr>
          <a:xfrm>
            <a:off x="6949440" y="4800600"/>
            <a:ext cx="466344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78040" y="49377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 min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0" y="4937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cold index, 99% embedding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Working prototype</a:t>
            </a:r>
            <a:endParaRPr lang="en-US" sz="3400" dirty="0"/>
          </a:p>
        </p:txBody>
      </p:sp>
      <p:pic>
        <p:nvPicPr>
          <p:cNvPr id="3" name="ui screenshot" descr="D:\competitons\codecartographer\docs\img\structural-que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766560" cy="4233672"/>
          </a:xfrm>
          <a:prstGeom prst="rect">
            <a:avLst/>
          </a:prstGeom>
        </p:spPr>
      </p:pic>
      <p:sp>
        <p:nvSpPr>
          <p:cNvPr id="4" name="demo 0"/>
          <p:cNvSpPr/>
          <p:nvPr/>
        </p:nvSpPr>
        <p:spPr>
          <a:xfrm>
            <a:off x="7635240" y="1325880"/>
            <a:ext cx="39776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18120" y="143560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Live agent trace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every plan, tool call and observation streams in</a:t>
            </a:r>
            <a:endParaRPr lang="en-US" sz="1600" dirty="0"/>
          </a:p>
        </p:txBody>
      </p:sp>
      <p:sp>
        <p:nvSpPr>
          <p:cNvPr id="6" name="demo 1"/>
          <p:cNvSpPr/>
          <p:nvPr/>
        </p:nvSpPr>
        <p:spPr>
          <a:xfrm>
            <a:off x="7635240" y="2404872"/>
            <a:ext cx="39776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18120" y="2514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Verified snippets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exact lines highlighted, ✓ verified badge</a:t>
            </a:r>
            <a:endParaRPr lang="en-US" sz="1600" dirty="0"/>
          </a:p>
        </p:txBody>
      </p:sp>
      <p:sp>
        <p:nvSpPr>
          <p:cNvPr id="8" name="demo 2"/>
          <p:cNvSpPr/>
          <p:nvPr/>
        </p:nvSpPr>
        <p:spPr>
          <a:xfrm>
            <a:off x="7635240" y="3483864"/>
            <a:ext cx="39776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18120" y="359359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Interactive call graph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click a node to open its code</a:t>
            </a:r>
            <a:endParaRPr lang="en-US" sz="1600" dirty="0"/>
          </a:p>
        </p:txBody>
      </p:sp>
      <p:sp>
        <p:nvSpPr>
          <p:cNvPr id="10" name="demo 3"/>
          <p:cNvSpPr/>
          <p:nvPr/>
        </p:nvSpPr>
        <p:spPr>
          <a:xfrm>
            <a:off x="7635240" y="4562856"/>
            <a:ext cx="39776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18120" y="467258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Evaluation dashboard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metrics recomputed by one command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7150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it:  docker compose up  →  http://localhost:8000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Tools &amp; tech stack</a:t>
            </a:r>
            <a:endParaRPr lang="en-US" sz="3400" dirty="0"/>
          </a:p>
        </p:txBody>
      </p:sp>
      <p:sp>
        <p:nvSpPr>
          <p:cNvPr id="3" name="stack 0"/>
          <p:cNvSpPr/>
          <p:nvPr/>
        </p:nvSpPr>
        <p:spPr>
          <a:xfrm>
            <a:off x="548640" y="132588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4" name="stack 0 circle"/>
          <p:cNvSpPr/>
          <p:nvPr/>
        </p:nvSpPr>
        <p:spPr>
          <a:xfrm>
            <a:off x="749808" y="1508760"/>
            <a:ext cx="685800" cy="68580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pic>
        <p:nvPicPr>
          <p:cNvPr id="5" name="stack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" y="16802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48132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Parsing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tree-sitter + tree-sitter-javascript</a:t>
            </a:r>
            <a:endParaRPr lang="en-US" sz="1600" dirty="0"/>
          </a:p>
        </p:txBody>
      </p:sp>
      <p:sp>
        <p:nvSpPr>
          <p:cNvPr id="7" name="stack 1"/>
          <p:cNvSpPr/>
          <p:nvPr/>
        </p:nvSpPr>
        <p:spPr>
          <a:xfrm>
            <a:off x="6172200" y="132588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8" name="stack 1 circle"/>
          <p:cNvSpPr/>
          <p:nvPr/>
        </p:nvSpPr>
        <p:spPr>
          <a:xfrm>
            <a:off x="6373368" y="1508760"/>
            <a:ext cx="685800" cy="68580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pic>
        <p:nvPicPr>
          <p:cNvPr id="9" name="stack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818" y="1680210"/>
            <a:ext cx="342900" cy="3429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269480" y="148132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Embeddings (CPU)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jina-embeddings-v2-base-code via ONNX Runtime (fastembed)</a:t>
            </a:r>
            <a:endParaRPr lang="en-US" sz="1600" dirty="0"/>
          </a:p>
        </p:txBody>
      </p:sp>
      <p:sp>
        <p:nvSpPr>
          <p:cNvPr id="11" name="stack 2"/>
          <p:cNvSpPr/>
          <p:nvPr/>
        </p:nvSpPr>
        <p:spPr>
          <a:xfrm>
            <a:off x="548640" y="2532888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2" name="stack 2 circle"/>
          <p:cNvSpPr/>
          <p:nvPr/>
        </p:nvSpPr>
        <p:spPr>
          <a:xfrm>
            <a:off x="749808" y="2715768"/>
            <a:ext cx="685800" cy="68580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pic>
        <p:nvPicPr>
          <p:cNvPr id="13" name="stack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2887218"/>
            <a:ext cx="342900" cy="342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268833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Retrieval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Custom BM25, NumPy vector search, weighted RRF fusion</a:t>
            </a:r>
            <a:endParaRPr lang="en-US" sz="1600" dirty="0"/>
          </a:p>
        </p:txBody>
      </p:sp>
      <p:sp>
        <p:nvSpPr>
          <p:cNvPr id="15" name="stack 3"/>
          <p:cNvSpPr/>
          <p:nvPr/>
        </p:nvSpPr>
        <p:spPr>
          <a:xfrm>
            <a:off x="6172200" y="2532888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6" name="stack 3 circle"/>
          <p:cNvSpPr/>
          <p:nvPr/>
        </p:nvSpPr>
        <p:spPr>
          <a:xfrm>
            <a:off x="6373368" y="2715768"/>
            <a:ext cx="685800" cy="685800"/>
          </a:xfrm>
          <a:prstGeom prst="ellipse">
            <a:avLst/>
          </a:prstGeom>
          <a:solidFill>
            <a:schemeClr val="accent4">
              <a:alpha val="18000"/>
            </a:schemeClr>
          </a:solidFill>
          <a:ln/>
        </p:spPr>
      </p:sp>
      <p:pic>
        <p:nvPicPr>
          <p:cNvPr id="17" name="stack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818" y="2887218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69480" y="268833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Graph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Ordered call graph, branch guards, tool-handler resolution</a:t>
            </a:r>
            <a:endParaRPr lang="en-US" sz="1600" dirty="0"/>
          </a:p>
        </p:txBody>
      </p:sp>
      <p:sp>
        <p:nvSpPr>
          <p:cNvPr id="19" name="stack 4"/>
          <p:cNvSpPr/>
          <p:nvPr/>
        </p:nvSpPr>
        <p:spPr>
          <a:xfrm>
            <a:off x="548640" y="3739896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20" name="stack 4 circle"/>
          <p:cNvSpPr/>
          <p:nvPr/>
        </p:nvSpPr>
        <p:spPr>
          <a:xfrm>
            <a:off x="749808" y="3922776"/>
            <a:ext cx="685800" cy="685800"/>
          </a:xfrm>
          <a:prstGeom prst="ellipse">
            <a:avLst/>
          </a:prstGeom>
          <a:solidFill>
            <a:schemeClr val="accent6">
              <a:alpha val="18000"/>
            </a:schemeClr>
          </a:solidFill>
          <a:ln/>
        </p:spPr>
      </p:sp>
      <p:pic>
        <p:nvPicPr>
          <p:cNvPr id="21" name="stack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258" y="4094226"/>
            <a:ext cx="342900" cy="3429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45920" y="389534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LLM (optional)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Gemini · Groq · OpenAI · Ollama over plain HTTP</a:t>
            </a:r>
            <a:endParaRPr lang="en-US" sz="1600" dirty="0"/>
          </a:p>
        </p:txBody>
      </p:sp>
      <p:sp>
        <p:nvSpPr>
          <p:cNvPr id="23" name="stack 5"/>
          <p:cNvSpPr/>
          <p:nvPr/>
        </p:nvSpPr>
        <p:spPr>
          <a:xfrm>
            <a:off x="6172200" y="3739896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24" name="stack 5 circle"/>
          <p:cNvSpPr/>
          <p:nvPr/>
        </p:nvSpPr>
        <p:spPr>
          <a:xfrm>
            <a:off x="6373368" y="3922776"/>
            <a:ext cx="685800" cy="68580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pic>
        <p:nvPicPr>
          <p:cNvPr id="25" name="stack 5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4818" y="4094226"/>
            <a:ext cx="342900" cy="3429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269480" y="389534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Serving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FastAPI + Server-Sent Events, vanilla JS UI, Cytoscape.js</a:t>
            </a:r>
            <a:endParaRPr lang="en-US" sz="1600" dirty="0"/>
          </a:p>
        </p:txBody>
      </p:sp>
      <p:sp>
        <p:nvSpPr>
          <p:cNvPr id="27" name="stack 6"/>
          <p:cNvSpPr/>
          <p:nvPr/>
        </p:nvSpPr>
        <p:spPr>
          <a:xfrm>
            <a:off x="548640" y="4946904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28" name="stack 6 circle"/>
          <p:cNvSpPr/>
          <p:nvPr/>
        </p:nvSpPr>
        <p:spPr>
          <a:xfrm>
            <a:off x="749808" y="5129784"/>
            <a:ext cx="685800" cy="68580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pic>
        <p:nvPicPr>
          <p:cNvPr id="29" name="stack 6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258" y="5301234"/>
            <a:ext cx="342900" cy="3429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645920" y="51023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Integrations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CLI and MCP stdio server (Claude Code, Cursor, VS Code)</a:t>
            </a:r>
            <a:endParaRPr lang="en-US" sz="1600" dirty="0"/>
          </a:p>
        </p:txBody>
      </p:sp>
      <p:sp>
        <p:nvSpPr>
          <p:cNvPr id="31" name="stack 7"/>
          <p:cNvSpPr/>
          <p:nvPr/>
        </p:nvSpPr>
        <p:spPr>
          <a:xfrm>
            <a:off x="6172200" y="4946904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32" name="stack 7 circle"/>
          <p:cNvSpPr/>
          <p:nvPr/>
        </p:nvSpPr>
        <p:spPr>
          <a:xfrm>
            <a:off x="6373368" y="5129784"/>
            <a:ext cx="685800" cy="685800"/>
          </a:xfrm>
          <a:prstGeom prst="ellipse">
            <a:avLst/>
          </a:prstGeom>
          <a:solidFill>
            <a:schemeClr val="accent4">
              <a:alpha val="18000"/>
            </a:schemeClr>
          </a:solidFill>
          <a:ln/>
        </p:spPr>
      </p:sp>
      <p:pic>
        <p:nvPicPr>
          <p:cNvPr id="33" name="stack 7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4818" y="5301234"/>
            <a:ext cx="342900" cy="3429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7269480" y="51023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Ops &amp; quality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Docker / Compose, pytest (15 tests), eval harness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Innovation highlights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34416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Branch-aware, inter-procedural call order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Structural answers are computed from the AST, including the negated “B without A” form that works as a policy check.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428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02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322576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Alias-tracking usage search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Follows constants through lookup tables to code that never names them.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82696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03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300984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Verifier: zero hallucinated locations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LLM or planner, every file:line is checked against the source before it is shown.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61104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04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4279392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Works with no API key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deterministic planner is offline and reproducible. An LLM adds rewrites and explanations when available.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3951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05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525780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Incremental and IDE-native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Sub-second re-index after edits, and an MCP server for any coding agent.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Limitations &amp; next steps</a:t>
            </a:r>
            <a:endParaRPr lang="en-US" sz="3400" dirty="0"/>
          </a:p>
        </p:txBody>
      </p:sp>
      <p:sp>
        <p:nvSpPr>
          <p:cNvPr id="3" name="limits card"/>
          <p:cNvSpPr/>
          <p:nvPr/>
        </p:nvSpPr>
        <p:spPr>
          <a:xfrm>
            <a:off x="548640" y="1325880"/>
            <a:ext cx="5440680" cy="475488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4" name="next card"/>
          <p:cNvSpPr/>
          <p:nvPr/>
        </p:nvSpPr>
        <p:spPr>
          <a:xfrm>
            <a:off x="6172200" y="1325880"/>
            <a:ext cx="5440680" cy="475488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5" name="limits circle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pic>
        <p:nvPicPr>
          <p:cNvPr id="6" name="limit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714500"/>
            <a:ext cx="320040" cy="320040"/>
          </a:xfrm>
          <a:prstGeom prst="rect">
            <a:avLst/>
          </a:prstGeom>
        </p:spPr>
      </p:pic>
      <p:sp>
        <p:nvSpPr>
          <p:cNvPr id="7" name="next circle"/>
          <p:cNvSpPr/>
          <p:nvPr/>
        </p:nvSpPr>
        <p:spPr>
          <a:xfrm>
            <a:off x="6446520" y="1554480"/>
            <a:ext cx="640080" cy="640080"/>
          </a:xfrm>
          <a:prstGeom prst="ellipse">
            <a:avLst/>
          </a:prstGeom>
          <a:solidFill>
            <a:schemeClr val="accent4">
              <a:alpha val="18000"/>
            </a:schemeClr>
          </a:solidFill>
          <a:ln/>
        </p:spPr>
      </p:sp>
      <p:pic>
        <p:nvPicPr>
          <p:cNvPr id="8" name="nex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17145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6642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223760" y="16642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Next steps (worklet)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46888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Dynamic dispatch (computed calls, DI) is resolved only for globally unique names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Early return and try/catch paths are approximated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Cold CPU embedding is about 0.1 s per chunk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Gold set is built on our sample repo; we will label the provided codebase next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46888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Type-aware resolution via the TypeScript compiler API (JS + TS)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Policy checks in CI: “every deeplink must follow a permission check”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PR impact analysis: which agents and tools does a change affect?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Quantised / smaller code model for faster cold indexing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end circle"/>
          <p:cNvSpPr/>
          <p:nvPr/>
        </p:nvSpPr>
        <p:spPr>
          <a:xfrm>
            <a:off x="731520" y="914400"/>
            <a:ext cx="1005840" cy="100584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pic>
        <p:nvPicPr>
          <p:cNvPr id="3" name="logo en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165860"/>
            <a:ext cx="502920" cy="5029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383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CodeCartographer: find it, prove it, fix it.</a:t>
            </a:r>
            <a:endParaRPr lang="en-US" sz="2200" dirty="0"/>
          </a:p>
        </p:txBody>
      </p:sp>
      <p:sp>
        <p:nvSpPr>
          <p:cNvPr id="6" name="links card"/>
          <p:cNvSpPr/>
          <p:nvPr/>
        </p:nvSpPr>
        <p:spPr>
          <a:xfrm>
            <a:off x="731520" y="4892040"/>
            <a:ext cx="1069848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7" name="links"/>
          <p:cNvSpPr txBox="1"/>
          <p:nvPr/>
        </p:nvSpPr>
        <p:spPr>
          <a:xfrm>
            <a:off x="1005840" y="50749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GitHub: 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github.com/&lt;user&gt;/codecartographer   (tag PRISM_GENAI_HACKATHON_Y2026)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Demo video: 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&lt;YouTube / Drive link&gt;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Cartographer">
  <a:themeElements>
    <a:clrScheme name="CodeCartographer">
      <a:dk1>
        <a:srgbClr val="0B1020"/>
      </a:dk1>
      <a:lt1>
        <a:srgbClr val="FFFFFF"/>
      </a:lt1>
      <a:dk2>
        <a:srgbClr val="121A30"/>
      </a:dk2>
      <a:lt2>
        <a:srgbClr val="E6EBF5"/>
      </a:lt2>
      <a:accent1>
        <a:srgbClr val="22D3EE"/>
      </a:accent1>
      <a:accent2>
        <a:srgbClr val="A78BFA"/>
      </a:accent2>
      <a:accent3>
        <a:srgbClr val="F59E0B"/>
      </a:accent3>
      <a:accent4>
        <a:srgbClr val="34D399"/>
      </a:accent4>
      <a:accent5>
        <a:srgbClr val="94A3B8"/>
      </a:accent5>
      <a:accent6>
        <a:srgbClr val="3B82F6"/>
      </a:accent6>
      <a:hlink>
        <a:srgbClr val="22D3EE"/>
      </a:hlink>
      <a:folHlink>
        <a:srgbClr val="A78BFA"/>
      </a:folHlink>
    </a:clrScheme>
    <a:fontScheme name="CodeCartograph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CodeCartographer - Agentic Code Intelligence</dc:title>
  <dc:subject>PptxGenJS Presentation</dc:subject>
  <dc:creator>Team CodeCartographer</dc:creator>
  <cp:lastModifiedBy>Team CodeCartographer</cp:lastModifiedBy>
  <cp:revision>1</cp:revision>
  <dcterms:created xsi:type="dcterms:W3CDTF">2026-10-04T15:40:53Z</dcterms:created>
  <dcterms:modified xsi:type="dcterms:W3CDTF">2026-10-04T15:40:53Z</dcterms:modified>
</cp:coreProperties>
</file>